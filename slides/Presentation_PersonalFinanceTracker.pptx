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A7A4F"/>
          </a:solidFill>
          <a:ln w="12700">
            <a:solidFill>
              <a:srgbClr val="2A7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Finance Tracker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A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 II Java Project  |  PCCCS495 — Advanced Programming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606040"/>
            <a:ext cx="4114800" cy="36576"/>
          </a:xfrm>
          <a:prstGeom prst="rect">
            <a:avLst/>
          </a:prstGeom>
          <a:solidFill>
            <a:srgbClr val="2A7A4F"/>
          </a:solidFill>
          <a:ln w="12700">
            <a:solidFill>
              <a:srgbClr val="2A7A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834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194560" y="2834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Adrija Chakraborty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18211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No.: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194560" y="318211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12024052004004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52958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194560" y="352958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Technology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87705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194560" y="387705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Year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02336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22960"/>
            <a:ext cx="4023360" cy="411480"/>
          </a:xfrm>
          <a:prstGeom prst="rect">
            <a:avLst/>
          </a:prstGeom>
          <a:solidFill>
            <a:srgbClr val="2A7A4F"/>
          </a:solidFill>
          <a:ln w="12700">
            <a:solidFill>
              <a:srgbClr val="2A7A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22960"/>
            <a:ext cx="3931920" cy="4114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325880"/>
            <a:ext cx="3840480" cy="32918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and working individuals struggle to track income, expenses, and budgets. Existing tools are complex or require internet access. A simple offline Java desktop app solves this problem.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0" y="822960"/>
            <a:ext cx="429768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0" y="822960"/>
            <a:ext cx="4297680" cy="4114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822960"/>
            <a:ext cx="4206240" cy="4114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Objectives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663440" y="1325880"/>
            <a:ext cx="4114800" cy="32918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OOP: abstraction, inheritance, polymorphism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Three-layer architecture (Model / Service / View)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exception handling for input validation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Collections: ArrayList and HashMap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CSV file persistence — no external libraries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Java Swing GUI with four tabs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Meaningful Git commit history across multiple days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OOP Concepts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4114800" cy="804672"/>
          </a:xfrm>
          <a:prstGeom prst="rect">
            <a:avLst/>
          </a:prstGeom>
          <a:solidFill>
            <a:srgbClr val="E8F5EE"/>
          </a:solidFill>
          <a:ln w="12700">
            <a:solidFill>
              <a:srgbClr val="2A7A4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43000"/>
            <a:ext cx="109728" cy="804672"/>
          </a:xfrm>
          <a:prstGeom prst="rect">
            <a:avLst/>
          </a:prstGeom>
          <a:solidFill>
            <a:srgbClr val="2A7A4F"/>
          </a:solidFill>
          <a:ln w="12700">
            <a:solidFill>
              <a:srgbClr val="2A7A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97864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54533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finance.view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2039112"/>
            <a:ext cx="4114800" cy="804672"/>
          </a:xfrm>
          <a:prstGeom prst="rect">
            <a:avLst/>
          </a:prstGeom>
          <a:solidFill>
            <a:srgbClr val="E8ECF5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2039112"/>
            <a:ext cx="109728" cy="80467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093976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4414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finance.service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2935224"/>
            <a:ext cx="4114800" cy="804672"/>
          </a:xfrm>
          <a:prstGeom prst="rect">
            <a:avLst/>
          </a:prstGeom>
          <a:solidFill>
            <a:srgbClr val="FEF9E8"/>
          </a:solidFill>
          <a:ln w="12700">
            <a:solidFill>
              <a:srgbClr val="C0903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935224"/>
            <a:ext cx="109728" cy="804672"/>
          </a:xfrm>
          <a:prstGeom prst="rect">
            <a:avLst/>
          </a:prstGeom>
          <a:solidFill>
            <a:srgbClr val="C09030"/>
          </a:solidFill>
          <a:ln w="12700">
            <a:solidFill>
              <a:srgbClr val="C090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99008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33375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finance.persistence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3831336"/>
            <a:ext cx="4114800" cy="804672"/>
          </a:xfrm>
          <a:prstGeom prst="rect">
            <a:avLst/>
          </a:prstGeom>
          <a:solidFill>
            <a:srgbClr val="FDECEA"/>
          </a:solidFill>
          <a:ln w="12700">
            <a:solidFill>
              <a:srgbClr val="C0504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3831336"/>
            <a:ext cx="109728" cy="804672"/>
          </a:xfrm>
          <a:prstGeom prst="rect">
            <a:avLst/>
          </a:prstGeom>
          <a:solidFill>
            <a:srgbClr val="C05040"/>
          </a:solidFill>
          <a:ln w="12700">
            <a:solidFill>
              <a:srgbClr val="C050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8862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42336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finance.model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754880" y="7772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Concepts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54880" y="1170432"/>
            <a:ext cx="4114800" cy="530352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54880" y="1170432"/>
            <a:ext cx="91440" cy="530352"/>
          </a:xfrm>
          <a:prstGeom prst="rect">
            <a:avLst/>
          </a:prstGeom>
          <a:solidFill>
            <a:srgbClr val="2A7A4F"/>
          </a:solidFill>
          <a:ln w="12700">
            <a:solidFill>
              <a:srgbClr val="2A7A4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19472" y="120700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19472" y="144475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class Transaction with getType()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54880" y="1792224"/>
            <a:ext cx="4114800" cy="530352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0" y="1792224"/>
            <a:ext cx="91440" cy="530352"/>
          </a:xfrm>
          <a:prstGeom prst="rect">
            <a:avLst/>
          </a:prstGeom>
          <a:solidFill>
            <a:srgbClr val="2A7A4F"/>
          </a:solidFill>
          <a:ln w="12700">
            <a:solidFill>
              <a:srgbClr val="2A7A4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19472" y="18288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19472" y="206654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&amp; Expense extend Transaction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54880" y="2414016"/>
            <a:ext cx="4114800" cy="530352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54880" y="2414016"/>
            <a:ext cx="91440" cy="530352"/>
          </a:xfrm>
          <a:prstGeom prst="rect">
            <a:avLst/>
          </a:prstGeom>
          <a:solidFill>
            <a:srgbClr val="2A7A4F"/>
          </a:solidFill>
          <a:ln w="12700">
            <a:solidFill>
              <a:srgbClr val="2A7A4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19472" y="245059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Polymorphism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919472" y="268833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List&lt;Transaction&gt; resolves type at runtime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54880" y="3035808"/>
            <a:ext cx="4114800" cy="530352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54880" y="3035808"/>
            <a:ext cx="91440" cy="530352"/>
          </a:xfrm>
          <a:prstGeom prst="rect">
            <a:avLst/>
          </a:prstGeom>
          <a:solidFill>
            <a:srgbClr val="2A7A4F"/>
          </a:solidFill>
          <a:ln w="12700">
            <a:solidFill>
              <a:srgbClr val="2A7A4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19472" y="307238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Encapsulation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919472" y="331012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fields, public getters/setters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754880" y="3657600"/>
            <a:ext cx="4114800" cy="530352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54880" y="3657600"/>
            <a:ext cx="91440" cy="530352"/>
          </a:xfrm>
          <a:prstGeom prst="rect">
            <a:avLst/>
          </a:prstGeom>
          <a:solidFill>
            <a:srgbClr val="2A7A4F"/>
          </a:solidFill>
          <a:ln w="12700">
            <a:solidFill>
              <a:srgbClr val="2A7A4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19472" y="369417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Handling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919472" y="393192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InvalidAmountException, InvalidDateException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754880" y="4279392"/>
            <a:ext cx="4114800" cy="530352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754880" y="4279392"/>
            <a:ext cx="91440" cy="530352"/>
          </a:xfrm>
          <a:prstGeom prst="rect">
            <a:avLst/>
          </a:prstGeom>
          <a:solidFill>
            <a:srgbClr val="2A7A4F"/>
          </a:solidFill>
          <a:ln w="12700">
            <a:solidFill>
              <a:srgbClr val="2A7A4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19472" y="431596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919472" y="455371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ArrayList&lt;Transaction&gt;, HashMap&lt;String,Double&gt;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Classes &amp; Application Features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Classes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143000"/>
          <a:ext cx="4846320" cy="3657600"/>
        </p:xfrm>
        <a:graphic>
          <a:graphicData uri="http://schemas.openxmlformats.org/drawingml/2006/table">
            <a:tbl>
              <a:tblPr/>
              <a:tblGrid>
                <a:gridCol w="1645920"/>
                <a:gridCol w="1371600"/>
                <a:gridCol w="18288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Abstract base class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Income / Expense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Concrete subclasses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Stores spending limits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FileHandler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persistence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CSV read/write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TransactionManager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logic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BudgetManager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 tracking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MainDashboard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Entry point (JFrame)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394960" y="7772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Features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349240" y="1170432"/>
            <a:ext cx="34747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22392" y="1280160"/>
            <a:ext cx="164592" cy="164592"/>
          </a:xfrm>
          <a:prstGeom prst="ellipse">
            <a:avLst/>
          </a:prstGeom>
          <a:solidFill>
            <a:srgbClr val="2A7A4F"/>
          </a:solidFill>
          <a:ln w="12700">
            <a:solidFill>
              <a:srgbClr val="2A7A4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50992" y="122529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income &amp; expense transactions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349240" y="1636776"/>
            <a:ext cx="3474720" cy="384048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422392" y="1746504"/>
            <a:ext cx="164592" cy="164592"/>
          </a:xfrm>
          <a:prstGeom prst="ellipse">
            <a:avLst/>
          </a:prstGeom>
          <a:solidFill>
            <a:srgbClr val="2A7A4F"/>
          </a:solidFill>
          <a:ln w="12700">
            <a:solidFill>
              <a:srgbClr val="2A7A4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650992" y="16916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Category-wise classification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349240" y="2103120"/>
            <a:ext cx="34747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422392" y="2212848"/>
            <a:ext cx="164592" cy="164592"/>
          </a:xfrm>
          <a:prstGeom prst="ellipse">
            <a:avLst/>
          </a:prstGeom>
          <a:solidFill>
            <a:srgbClr val="2A7A4F"/>
          </a:solidFill>
          <a:ln w="12700">
            <a:solidFill>
              <a:srgbClr val="2A7A4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650992" y="215798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&amp; manage monthly budgets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349240" y="2569464"/>
            <a:ext cx="3474720" cy="384048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422392" y="2679192"/>
            <a:ext cx="164592" cy="164592"/>
          </a:xfrm>
          <a:prstGeom prst="ellipse">
            <a:avLst/>
          </a:prstGeom>
          <a:solidFill>
            <a:srgbClr val="2A7A4F"/>
          </a:solidFill>
          <a:ln w="12700">
            <a:solidFill>
              <a:srgbClr val="2A7A4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650992" y="26243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history with delete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5349240" y="3035808"/>
            <a:ext cx="34747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422392" y="3145536"/>
            <a:ext cx="164592" cy="164592"/>
          </a:xfrm>
          <a:prstGeom prst="ellipse">
            <a:avLst/>
          </a:prstGeom>
          <a:solidFill>
            <a:srgbClr val="2A7A4F"/>
          </a:solidFill>
          <a:ln w="12700">
            <a:solidFill>
              <a:srgbClr val="2A7A4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650992" y="30906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summary report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5349240" y="3502152"/>
            <a:ext cx="3474720" cy="384048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422392" y="3611880"/>
            <a:ext cx="164592" cy="164592"/>
          </a:xfrm>
          <a:prstGeom prst="ellipse">
            <a:avLst/>
          </a:prstGeom>
          <a:solidFill>
            <a:srgbClr val="2A7A4F"/>
          </a:solidFill>
          <a:ln w="12700">
            <a:solidFill>
              <a:srgbClr val="2A7A4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650992" y="355701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OK / EXCEEDED status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349240" y="3968496"/>
            <a:ext cx="34747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422392" y="4078224"/>
            <a:ext cx="164592" cy="164592"/>
          </a:xfrm>
          <a:prstGeom prst="ellipse">
            <a:avLst/>
          </a:prstGeom>
          <a:solidFill>
            <a:srgbClr val="2A7A4F"/>
          </a:solidFill>
          <a:ln w="12700">
            <a:solidFill>
              <a:srgbClr val="2A7A4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650992" y="40233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data persistence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5349240" y="4434840"/>
            <a:ext cx="3474720" cy="384048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5422392" y="4544568"/>
            <a:ext cx="164592" cy="164592"/>
          </a:xfrm>
          <a:prstGeom prst="ellipse">
            <a:avLst/>
          </a:prstGeom>
          <a:solidFill>
            <a:srgbClr val="2A7A4F"/>
          </a:solidFill>
          <a:ln w="12700">
            <a:solidFill>
              <a:srgbClr val="2A7A4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650992" y="448970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input validation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Validation, Testing &amp; What I Learned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114800" cy="41605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777240"/>
            <a:ext cx="4114800" cy="365760"/>
          </a:xfrm>
          <a:prstGeom prst="rect">
            <a:avLst/>
          </a:prstGeom>
          <a:solidFill>
            <a:srgbClr val="2A7A4F"/>
          </a:solidFill>
          <a:ln w="12700">
            <a:solidFill>
              <a:srgbClr val="2A7A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777240"/>
            <a:ext cx="4023360" cy="3657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Handling — How It Works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7472" y="1234440"/>
            <a:ext cx="3931920" cy="658368"/>
          </a:xfrm>
          <a:prstGeom prst="rect">
            <a:avLst/>
          </a:prstGeom>
          <a:solidFill>
            <a:srgbClr val="FDECEA"/>
          </a:solidFill>
          <a:ln w="7620">
            <a:solidFill>
              <a:srgbClr val="C050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28930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InvalidAmountException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11480" y="149047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When: Amount is 0 or negative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11480" y="1655064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Flow: TransactionManager → AddTransactionPanel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47472" y="1984248"/>
            <a:ext cx="3931920" cy="658368"/>
          </a:xfrm>
          <a:prstGeom prst="rect">
            <a:avLst/>
          </a:prstGeom>
          <a:solidFill>
            <a:srgbClr val="FFF8E1"/>
          </a:solidFill>
          <a:ln w="7620">
            <a:solidFill>
              <a:srgbClr val="C0903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03911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InvalidDateException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11480" y="224028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When: Date is in the future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11480" y="240487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Flow: TransactionManager → AddTransactionPanel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47472" y="2734056"/>
            <a:ext cx="3931920" cy="658368"/>
          </a:xfrm>
          <a:prstGeom prst="rect">
            <a:avLst/>
          </a:prstGeom>
          <a:solidFill>
            <a:srgbClr val="E8F0FB"/>
          </a:solidFill>
          <a:ln w="7620">
            <a:solidFill>
              <a:srgbClr val="3A74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78892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NumberFormatException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11480" y="299008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When: Non-numeric amount input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11480" y="315468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Flow: Java built-in → AddTransactionPanel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47472" y="3483864"/>
            <a:ext cx="3931920" cy="658368"/>
          </a:xfrm>
          <a:prstGeom prst="rect">
            <a:avLst/>
          </a:prstGeom>
          <a:solidFill>
            <a:srgbClr val="EEEAF8"/>
          </a:solidFill>
          <a:ln w="7620">
            <a:solidFill>
              <a:srgbClr val="7B68C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53872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IOException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11480" y="3739896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When: CSV file read/write fails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11480" y="390448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Flow: FileHandler catches internally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572000" y="777240"/>
            <a:ext cx="4297680" cy="41605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0" y="777240"/>
            <a:ext cx="4297680" cy="3657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17720" y="777240"/>
            <a:ext cx="4206240" cy="3657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Summary &amp; Key Takeaways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63440" y="1216152"/>
            <a:ext cx="1234440" cy="640080"/>
          </a:xfrm>
          <a:prstGeom prst="rect">
            <a:avLst/>
          </a:prstGeom>
          <a:solidFill>
            <a:srgbClr val="E8F5EE"/>
          </a:solidFill>
          <a:ln w="10160">
            <a:solidFill>
              <a:srgbClr val="2A7A4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1243584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A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4663440" y="1572768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Tests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035040" y="1216152"/>
            <a:ext cx="1234440" cy="640080"/>
          </a:xfrm>
          <a:prstGeom prst="rect">
            <a:avLst/>
          </a:prstGeom>
          <a:solidFill>
            <a:srgbClr val="E8F5EE"/>
          </a:solidFill>
          <a:ln w="10160">
            <a:solidFill>
              <a:srgbClr val="2A7A4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35040" y="1243584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A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6035040" y="1572768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7406640" y="1216152"/>
            <a:ext cx="1234440" cy="640080"/>
          </a:xfrm>
          <a:prstGeom prst="rect">
            <a:avLst/>
          </a:prstGeom>
          <a:solidFill>
            <a:srgbClr val="FDECEA"/>
          </a:solidFill>
          <a:ln w="10160">
            <a:solidFill>
              <a:srgbClr val="C0504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06640" y="1243584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05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7406640" y="1572768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645152" y="1965960"/>
            <a:ext cx="4133088" cy="621792"/>
          </a:xfrm>
          <a:prstGeom prst="rect">
            <a:avLst/>
          </a:prstGeom>
          <a:solidFill>
            <a:srgbClr val="F4F4F4"/>
          </a:solidFill>
          <a:ln w="5080">
            <a:solidFill>
              <a:srgbClr val="CCCCC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645152" y="1965960"/>
            <a:ext cx="73152" cy="621792"/>
          </a:xfrm>
          <a:prstGeom prst="rect">
            <a:avLst/>
          </a:prstGeom>
          <a:solidFill>
            <a:srgbClr val="2A7A4F"/>
          </a:solidFill>
          <a:ln w="12700">
            <a:solidFill>
              <a:srgbClr val="2A7A4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73168" y="201168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Separation of concerns works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773168" y="221284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UI never crashes because errors are caught in the service layer and shown as friendly popups — not raw stack traces.</a:t>
            </a:r>
            <a:endParaRPr lang="en-US" sz="820" dirty="0"/>
          </a:p>
        </p:txBody>
      </p:sp>
      <p:sp>
        <p:nvSpPr>
          <p:cNvPr id="39" name="Shape 37"/>
          <p:cNvSpPr/>
          <p:nvPr/>
        </p:nvSpPr>
        <p:spPr>
          <a:xfrm>
            <a:off x="4645152" y="2670048"/>
            <a:ext cx="4133088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645152" y="2670048"/>
            <a:ext cx="73152" cy="621792"/>
          </a:xfrm>
          <a:prstGeom prst="rect">
            <a:avLst/>
          </a:prstGeom>
          <a:solidFill>
            <a:srgbClr val="2A7A4F"/>
          </a:solidFill>
          <a:ln w="12700">
            <a:solidFill>
              <a:srgbClr val="2A7A4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73168" y="271576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Polymorphism saves repetition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773168" y="2916936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List&lt;Transaction&gt; holds both Income and Expense. No separate loops needed — getType() figures it out at runtime.</a:t>
            </a:r>
            <a:endParaRPr lang="en-US" sz="820" dirty="0"/>
          </a:p>
        </p:txBody>
      </p:sp>
      <p:sp>
        <p:nvSpPr>
          <p:cNvPr id="43" name="Shape 41"/>
          <p:cNvSpPr/>
          <p:nvPr/>
        </p:nvSpPr>
        <p:spPr>
          <a:xfrm>
            <a:off x="4645152" y="3374136"/>
            <a:ext cx="4133088" cy="621792"/>
          </a:xfrm>
          <a:prstGeom prst="rect">
            <a:avLst/>
          </a:prstGeom>
          <a:solidFill>
            <a:srgbClr val="F4F4F4"/>
          </a:solidFill>
          <a:ln w="5080">
            <a:solidFill>
              <a:srgbClr val="CCCCC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645152" y="3374136"/>
            <a:ext cx="73152" cy="621792"/>
          </a:xfrm>
          <a:prstGeom prst="rect">
            <a:avLst/>
          </a:prstGeom>
          <a:solidFill>
            <a:srgbClr val="2A7A4F"/>
          </a:solidFill>
          <a:ln w="12700">
            <a:solidFill>
              <a:srgbClr val="2A7A4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73168" y="341985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persistence is powerful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773168" y="3621024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with 5 columns per line. On startup everything reloads. Malformed lines are skipped — no crash even if file is corrupted.</a:t>
            </a:r>
            <a:endParaRPr lang="en-US" sz="820" dirty="0"/>
          </a:p>
        </p:txBody>
      </p:sp>
      <p:sp>
        <p:nvSpPr>
          <p:cNvPr id="47" name="Shape 45"/>
          <p:cNvSpPr/>
          <p:nvPr/>
        </p:nvSpPr>
        <p:spPr>
          <a:xfrm>
            <a:off x="4645152" y="4078224"/>
            <a:ext cx="4133088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645152" y="4078224"/>
            <a:ext cx="73152" cy="621792"/>
          </a:xfrm>
          <a:prstGeom prst="rect">
            <a:avLst/>
          </a:prstGeom>
          <a:solidFill>
            <a:srgbClr val="2A7A4F"/>
          </a:solidFill>
          <a:ln w="12700">
            <a:solidFill>
              <a:srgbClr val="2A7A4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73168" y="412394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refreshAll() ties everything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773168" y="4325112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panel rebuilds when data changes. Deleting a transaction in History instantly updates the Report and Budget tabs too.</a:t>
            </a:r>
            <a:endParaRPr lang="en-US" sz="8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A7A4F"/>
          </a:solidFill>
          <a:ln w="12700">
            <a:solidFill>
              <a:srgbClr val="2A7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A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Finance Tracker — Summary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8229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6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entirely in Java with Swing GUI — no external libraries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6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all 5 OOP concepts: abstraction, inheritance, polymorphism, encapsulation, exception handling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6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three-layer architecture: Model, Service, View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6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15 test cases passed — robust input validation throughout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6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persistence with malformed data handling (faculty improvement addressed)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6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 meaningful Git commits spanning multiple days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7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Adrija Chakraborty  |  Enr. No. 12024052004004  |  IT 2nd Year  |  PCCCS495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2026-03-21T04:06:53Z</dcterms:created>
  <dcterms:modified xsi:type="dcterms:W3CDTF">2026-03-21T04:06:53Z</dcterms:modified>
</cp:coreProperties>
</file>